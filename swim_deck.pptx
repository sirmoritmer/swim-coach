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6" r:id="rId2"/>
    <p:sldId id="317" r:id="rId3"/>
    <p:sldId id="350" r:id="rId4"/>
    <p:sldId id="351" r:id="rId5"/>
    <p:sldId id="348" r:id="rId6"/>
    <p:sldId id="349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34" r:id="rId20"/>
    <p:sldId id="335" r:id="rId21"/>
    <p:sldId id="336" r:id="rId22"/>
    <p:sldId id="337" r:id="rId23"/>
    <p:sldId id="364" r:id="rId24"/>
    <p:sldId id="365" r:id="rId25"/>
    <p:sldId id="366" r:id="rId26"/>
    <p:sldId id="367" r:id="rId27"/>
    <p:sldId id="368" r:id="rId28"/>
    <p:sldId id="369" r:id="rId29"/>
    <p:sldId id="370" r:id="rId30"/>
    <p:sldId id="371" r:id="rId3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1"/>
    <p:restoredTop sz="94622"/>
  </p:normalViewPr>
  <p:slideViewPr>
    <p:cSldViewPr snapToGrid="0" snapToObjects="1">
      <p:cViewPr varScale="1">
        <p:scale>
          <a:sx n="88" d="100"/>
          <a:sy n="88" d="100"/>
        </p:scale>
        <p:origin x="200" y="7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29600" y="274320"/>
            <a:ext cx="4572000" cy="27432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25603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Trebuchet MS"/>
              </a:rPr>
              <a:t>ATHLETE ANALYTICS  ·  2017 –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1F5F9"/>
                </a:solidFill>
                <a:latin typeface="Georgia"/>
              </a:rPr>
              <a:t>The Data Geek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22D3EE"/>
                </a:solidFill>
                <a:latin typeface="Georgia"/>
              </a:rPr>
              <a:t>Swimmer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1,990 swims  ·  2,349 km  ·  1,047 hours  ·  8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Marcin Durlak  ·  March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280160"/>
            <a:ext cx="2560320" cy="2560320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14173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22D3EE"/>
                </a:solidFill>
                <a:latin typeface="Georgia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834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0A5FA"/>
                </a:solidFill>
                <a:latin typeface="Trebuchet MS"/>
              </a:rPr>
              <a:t>YEARS</a:t>
            </a:r>
          </a:p>
        </p:txBody>
      </p:sp>
    </p:spTree>
    <p:extLst>
      <p:ext uri="{BB962C8B-B14F-4D97-AF65-F5344CB8AC3E}">
        <p14:creationId xmlns:p14="http://schemas.microsoft.com/office/powerpoint/2010/main" val="3619879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ippl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8 Years by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2560320" cy="155448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64008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856232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TOTAL SWIMS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14884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2D3EE"/>
                </a:solidFill>
                <a:latin typeface="Georgia"/>
              </a:rPr>
              <a:t>1,990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89864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rebuchet MS"/>
              </a:rPr>
              <a:t>Dec 2017 – Mar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691640"/>
            <a:ext cx="2560320" cy="155448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1691640"/>
            <a:ext cx="64008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64992" y="1856232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TOTAL 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214884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60A5FA"/>
                </a:solidFill>
                <a:latin typeface="Georgia"/>
              </a:rPr>
              <a:t>2,349 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89864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rebuchet MS"/>
              </a:rPr>
              <a:t>≈ 1,460 miles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691640"/>
            <a:ext cx="2560320" cy="155448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5040" y="1691640"/>
            <a:ext cx="64008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99631" y="1856232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HOURS IN WATER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1" y="214884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Georgia"/>
              </a:rPr>
              <a:t>1,047 hrs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289864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rebuchet MS"/>
              </a:rPr>
              <a:t>43 full days of swimming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691640"/>
            <a:ext cx="2560320" cy="155448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9680" y="1691640"/>
            <a:ext cx="64008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34272" y="1856232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WEEKS 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14884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Georgia"/>
              </a:rPr>
              <a:t>390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89864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rebuchet MS"/>
              </a:rPr>
              <a:t>of ~435 possible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2560320" cy="12801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657600"/>
            <a:ext cx="64008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3822191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AVG PER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11480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60A5FA"/>
                </a:solidFill>
                <a:latin typeface="Georgia"/>
              </a:rPr>
              <a:t>1050 yd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5902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rebuchet MS"/>
              </a:rPr>
              <a:t>median session distance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657600"/>
            <a:ext cx="2560320" cy="12801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0" y="3657600"/>
            <a:ext cx="64008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64992" y="3822191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BEST YEAR 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64992" y="411480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Georgia"/>
              </a:rPr>
              <a:t>1:46/100yd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4992" y="45902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rebuchet MS"/>
              </a:rPr>
              <a:t>2018 – fastest median year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657600"/>
            <a:ext cx="2560320" cy="12801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35040" y="3657600"/>
            <a:ext cx="64008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99631" y="3822191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OPEN WATER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1" y="411480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60A5FA"/>
                </a:solidFill>
                <a:latin typeface="Georgia"/>
              </a:rPr>
              <a:t>124 swims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1" y="45902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rebuchet MS"/>
              </a:rPr>
              <a:t>6.2% of all sessions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3657600"/>
            <a:ext cx="2560320" cy="12801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869680" y="3657600"/>
            <a:ext cx="64008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34272" y="3822191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LONGEST SWIM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4272" y="411480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2D3EE"/>
                </a:solidFill>
                <a:latin typeface="Georgia"/>
              </a:rPr>
              <a:t>5,258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2" y="45902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rebuchet MS"/>
              </a:rPr>
              <a:t>Jan 7, 2026 · 1:45/100yd</a:t>
            </a:r>
          </a:p>
        </p:txBody>
      </p:sp>
    </p:spTree>
    <p:extLst>
      <p:ext uri="{BB962C8B-B14F-4D97-AF65-F5344CB8AC3E}">
        <p14:creationId xmlns:p14="http://schemas.microsoft.com/office/powerpoint/2010/main" val="274151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The Journey: Kilometers by Year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12816"/>
      </p:ext>
    </p:extLst>
  </p:cSld>
  <p:clrMapOvr>
    <a:masterClrMapping/>
  </p:clrMapOvr>
  <p:transition spd="med"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MILESTONE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22D3EE"/>
                </a:solidFill>
                <a:latin typeface="Georgia"/>
              </a:rPr>
              <a:t>2,349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Georgia"/>
              </a:rPr>
              <a:t>kilometers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swum since Dec 2017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280160"/>
            <a:ext cx="6400800" cy="100584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536192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A5FA"/>
                </a:solidFill>
                <a:latin typeface="Calibri"/>
              </a:rPr>
              <a:t>≈ NYC to Denver, twice 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2560320"/>
            <a:ext cx="6400800" cy="100584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2816352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A5FA"/>
                </a:solidFill>
                <a:latin typeface="Calibri"/>
              </a:rPr>
              <a:t>≈ 94,000 laps of a 25m pool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3840479"/>
            <a:ext cx="6400800" cy="100584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4096511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≈ crossing the English Channel 89×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5120640"/>
            <a:ext cx="6400800" cy="100584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5376672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Still counting →</a:t>
            </a:r>
          </a:p>
        </p:txBody>
      </p:sp>
    </p:spTree>
    <p:extLst>
      <p:ext uri="{BB962C8B-B14F-4D97-AF65-F5344CB8AC3E}">
        <p14:creationId xmlns:p14="http://schemas.microsoft.com/office/powerpoint/2010/main" val="4273840046"/>
      </p:ext>
    </p:extLst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Sessions per Year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61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litter pattern="hexagon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The Average Session Has Tripled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6364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570 yd avg in 2017  →  1,960 yd avg in 2026</a:t>
            </a:r>
          </a:p>
        </p:txBody>
      </p:sp>
    </p:spTree>
    <p:extLst>
      <p:ext uri="{BB962C8B-B14F-4D97-AF65-F5344CB8AC3E}">
        <p14:creationId xmlns:p14="http://schemas.microsoft.com/office/powerpoint/2010/main" val="1126805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Pace Through the Years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Lower = faster  ·  pace in min/100yd</a:t>
            </a:r>
          </a:p>
        </p:txBody>
      </p:sp>
    </p:spTree>
    <p:extLst>
      <p:ext uri="{BB962C8B-B14F-4D97-AF65-F5344CB8AC3E}">
        <p14:creationId xmlns:p14="http://schemas.microsoft.com/office/powerpoint/2010/main" val="3616049329"/>
      </p:ext>
    </p:extLst>
  </p:cSld>
  <p:clrMapOvr>
    <a:masterClrMapping/>
  </p:clrMapOvr>
  <p:transition spd="med">
    <p:wheel spokes="8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The Paradox: Longer Sessions, Faster Pace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6364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Blue bars = avg session distance (yards)  ·  Cyan line = pace per 100yd</a:t>
            </a:r>
          </a:p>
        </p:txBody>
      </p:sp>
    </p:spTree>
    <p:extLst>
      <p:ext uri="{BB962C8B-B14F-4D97-AF65-F5344CB8AC3E}">
        <p14:creationId xmlns:p14="http://schemas.microsoft.com/office/powerpoint/2010/main" val="2211981892"/>
      </p:ext>
    </p:extLst>
  </p:cSld>
  <p:clrMapOvr>
    <a:masterClrMapping/>
  </p:clrMapOvr>
  <p:transition spd="med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2026 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2026: The Best Year Yet — and It's Only March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2743200" cy="155448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64008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856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YTD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488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2D3EE"/>
                </a:solidFill>
                <a:latin typeface="Georgia"/>
              </a:rPr>
              <a:t>107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898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rebuchet MS"/>
              </a:rPr>
              <a:t>thru Mar 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691640"/>
            <a:ext cx="2743200" cy="155448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691640"/>
            <a:ext cx="64008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1856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1488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60A5FA"/>
                </a:solidFill>
                <a:latin typeface="Georgia"/>
              </a:rPr>
              <a:t>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898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rebuchet MS"/>
              </a:rPr>
              <a:t>in 86 days = 1 per 1.3d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91640"/>
            <a:ext cx="2743200" cy="155448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691640"/>
            <a:ext cx="64008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1856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MEDIAN 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1488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Georgia"/>
              </a:rPr>
              <a:t>1:55/100yd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898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rebuchet MS"/>
              </a:rPr>
              <a:t>best year so far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1691640"/>
            <a:ext cx="2377440" cy="155448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418320" y="1691640"/>
            <a:ext cx="64008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82912" y="18562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PROJECTED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21488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Georgia"/>
              </a:rPr>
              <a:t>~454 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28986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Trebuchet MS"/>
              </a:rPr>
              <a:t>if rate holds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57600"/>
            <a:ext cx="11430000" cy="2560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38404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40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Sessions averaging 1,646 yards — longer than any prior full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3708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3708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Pace improving despite longer distances — the paradox deepening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90118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90118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16-week unbroken streak entering Q2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43153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43153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Longest-ever swim recorded: 5,258m on Jan 7 at 1:45/100yd pace</a:t>
            </a:r>
          </a:p>
        </p:txBody>
      </p:sp>
    </p:spTree>
    <p:extLst>
      <p:ext uri="{BB962C8B-B14F-4D97-AF65-F5344CB8AC3E}">
        <p14:creationId xmlns:p14="http://schemas.microsoft.com/office/powerpoint/2010/main" val="1910546365"/>
      </p:ext>
    </p:extLst>
  </p:cSld>
  <p:clrMapOvr>
    <a:masterClrMapping/>
  </p:clrMapOvr>
  <p:transition spd="med">
    <p:newsfla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1F5F9"/>
                </a:solidFill>
                <a:latin typeface="Georgia"/>
              </a:rPr>
              <a:t>The Longest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22D3EE"/>
                </a:solidFill>
                <a:latin typeface="Georgia"/>
              </a:rPr>
              <a:t>Swim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January 7,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375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22D3EE"/>
                </a:solidFill>
                <a:latin typeface="Georgia"/>
              </a:rPr>
              <a:t>5,258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754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1F5F9"/>
                </a:solidFill>
                <a:latin typeface="Calibri"/>
              </a:rPr>
              <a:t>meters  ·  5,750 yards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914400"/>
            <a:ext cx="5394960" cy="10515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024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2984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2D3EE"/>
                </a:solidFill>
                <a:latin typeface="Georgia"/>
              </a:rPr>
              <a:t>1:45/100yd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5394960" cy="10515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3042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786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0A5FA"/>
                </a:solidFill>
                <a:latin typeface="Georgia"/>
              </a:rPr>
              <a:t>~110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474720"/>
            <a:ext cx="5394960" cy="10515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3584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POOL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858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0A5FA"/>
                </a:solidFill>
                <a:latin typeface="Georgia"/>
              </a:rPr>
              <a:t>25 yd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754879"/>
            <a:ext cx="5394960" cy="10515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486460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EQUIVALENT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138927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4748B"/>
                </a:solidFill>
                <a:latin typeface="Georgia"/>
              </a:rPr>
              <a:t>230 lengths</a:t>
            </a:r>
          </a:p>
        </p:txBody>
      </p:sp>
    </p:spTree>
    <p:extLst>
      <p:ext uri="{BB962C8B-B14F-4D97-AF65-F5344CB8AC3E}">
        <p14:creationId xmlns:p14="http://schemas.microsoft.com/office/powerpoint/2010/main" val="3696403393"/>
      </p:ext>
    </p:extLst>
  </p:cSld>
  <p:clrMapOvr>
    <a:masterClrMapping/>
  </p:clrMapOvr>
  <p:transition spd="med">
    <p:check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1F5F9"/>
                </a:solidFill>
                <a:latin typeface="Georgia"/>
              </a:rPr>
              <a:t>Pace Distribution: 1,990 Sessions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636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64748B"/>
                </a:solidFill>
                <a:latin typeface="Calibri"/>
              </a:rPr>
              <a:t>Tight cluster around 1:52–2:00/100yd with a long tail of slower open-water &amp; recovery swims</a:t>
            </a:r>
          </a:p>
        </p:txBody>
      </p:sp>
    </p:spTree>
    <p:extLst>
      <p:ext uri="{BB962C8B-B14F-4D97-AF65-F5344CB8AC3E}">
        <p14:creationId xmlns:p14="http://schemas.microsoft.com/office/powerpoint/2010/main" val="1686867885"/>
      </p:ext>
    </p:extLst>
  </p:cSld>
  <p:clrMapOvr>
    <a:masterClrMapping/>
  </p:clrMapOvr>
  <p:transition spd="med">
    <p:circl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Session Length Distribution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636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64748B"/>
                </a:solidFill>
                <a:latin typeface="Calibri"/>
              </a:rPr>
              <a:t>Median session: 1,250 yd  ·  ranging from quick 200yd dips to 5,750yd epics</a:t>
            </a:r>
          </a:p>
        </p:txBody>
      </p:sp>
    </p:spTree>
    <p:extLst>
      <p:ext uri="{BB962C8B-B14F-4D97-AF65-F5344CB8AC3E}">
        <p14:creationId xmlns:p14="http://schemas.microsoft.com/office/powerpoint/2010/main" val="2825331212"/>
      </p:ext>
    </p:extLst>
  </p:cSld>
  <p:clrMapOvr>
    <a:masterClrMapping/>
  </p:clrMapOvr>
  <p:transition spd="med">
    <p:diamond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When Does the Swimming Happen?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59627"/>
      </p:ext>
    </p:extLst>
  </p:cSld>
  <p:clrMapOvr>
    <a:masterClrMapping/>
  </p:clrMapOvr>
  <p:transition spd="med">
    <p:strips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0" y="0"/>
            <a:ext cx="6885432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HABITS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1F5F9"/>
                </a:solidFill>
                <a:latin typeface="Georgia"/>
              </a:rPr>
              <a:t>The 9am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2D3EE"/>
                </a:solidFill>
                <a:latin typeface="Georgia"/>
              </a:rPr>
              <a:t>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9–11am accounts for 452 of 1,990 sessions — the single most
productive two-hour window, and consistently fastest 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  9am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D3EE"/>
                </a:solidFill>
                <a:latin typeface="Georgia"/>
              </a:rPr>
              <a:t>242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280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  10am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48280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0A5FA"/>
                </a:solidFill>
                <a:latin typeface="Georgia"/>
              </a:rPr>
              <a:t>228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5412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  11am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554126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0A5FA"/>
                </a:solidFill>
                <a:latin typeface="Georgia"/>
              </a:rPr>
              <a:t>182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914400"/>
            <a:ext cx="6035040" cy="466344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Trebuchet MS"/>
              </a:rPr>
              <a:t>Morning vs Evening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Morning (6–11am)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1945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  <a:latin typeface="Georgia"/>
              </a:rPr>
              <a:t>1:54/100yd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816 sessions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Evening (5–10pm)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6118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0A5FA"/>
                </a:solidFill>
                <a:latin typeface="Georgia"/>
              </a:rPr>
              <a:t>1:55/100yd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574 sessions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Morning is 1.2s/100yd faster</a:t>
            </a:r>
          </a:p>
        </p:txBody>
      </p:sp>
    </p:spTree>
    <p:extLst>
      <p:ext uri="{BB962C8B-B14F-4D97-AF65-F5344CB8AC3E}">
        <p14:creationId xmlns:p14="http://schemas.microsoft.com/office/powerpoint/2010/main" val="450090909"/>
      </p:ext>
    </p:extLst>
  </p:cSld>
  <p:clrMapOvr>
    <a:masterClrMapping/>
  </p:clrMapOvr>
  <p:transition spd="med">
    <p:plus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Day of Week: Volume vs Performance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19780"/>
      </p:ext>
    </p:extLst>
  </p:cSld>
  <p:clrMapOvr>
    <a:masterClrMapping/>
  </p:clrMapOvr>
  <p:transition spd="med">
    <p:zoom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The Friday Phenomenon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5486400" cy="4389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" y="1691640"/>
            <a:ext cx="91440" cy="4389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748B"/>
                </a:solidFill>
                <a:latin typeface="Calibri"/>
              </a:rPr>
              <a:t>Most swims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22D3EE"/>
                </a:solidFill>
                <a:latin typeface="Georgia"/>
              </a:rPr>
              <a:t>Friday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332 sessions — 17% more than any other weekday.
Friday has become the anchor day of the training week.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17136"/>
            <a:ext cx="3284403" cy="201168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Mon  265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773168"/>
            <a:ext cx="3408343" cy="201168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7365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Tue  275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29200"/>
            <a:ext cx="3110887" cy="201168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99262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Wed  251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85232"/>
            <a:ext cx="3296797" cy="201168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2486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Thu  266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41264"/>
            <a:ext cx="4114800" cy="2011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50468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D3EE"/>
                </a:solidFill>
                <a:latin typeface="Calibri"/>
              </a:rPr>
              <a:t>Fri  332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97296"/>
            <a:ext cx="3594253" cy="201168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Sat  290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053328"/>
            <a:ext cx="3854526" cy="201168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01675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Sun  311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691640"/>
            <a:ext cx="5577840" cy="4389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81928" y="1691640"/>
            <a:ext cx="91440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748B"/>
                </a:solidFill>
                <a:latin typeface="Calibri"/>
              </a:rPr>
              <a:t>Best pace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423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  <a:latin typeface="Georgia"/>
              </a:rPr>
              <a:t>Mon &amp; Tue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375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Monday 1:54/100yd  ·  Tuesday 1:54/100yd
Starting the week fresh delivers measurably faster swimming. Friday energy is high — but Monday has the edge.</a:t>
            </a:r>
          </a:p>
        </p:txBody>
      </p:sp>
    </p:spTree>
    <p:extLst>
      <p:ext uri="{BB962C8B-B14F-4D97-AF65-F5344CB8AC3E}">
        <p14:creationId xmlns:p14="http://schemas.microsoft.com/office/powerpoint/2010/main" val="40663994"/>
      </p:ext>
    </p:extLst>
  </p:cSld>
  <p:clrMapOvr>
    <a:masterClrMapping/>
  </p:clrMapOvr>
  <p:transition spd="med">
    <p:spli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Monthly Patterns Across 8 Years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11948"/>
      </p:ext>
    </p:extLst>
  </p:cSld>
  <p:clrMapOvr>
    <a:masterClrMapping/>
  </p:clrMapOvr>
  <p:transition spd="med">
    <p:cover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Winter is When It Happens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5486400" cy="41148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D3EE"/>
                </a:solidFill>
                <a:latin typeface="Georgia"/>
              </a:rPr>
              <a:t>Winter
Oct–Mar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1F5F9"/>
                </a:solidFill>
                <a:latin typeface="Georgia"/>
              </a:rPr>
              <a:t>1016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D3EE"/>
                </a:solidFill>
                <a:latin typeface="Georgia"/>
              </a:rPr>
              <a:t>1349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total distance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486400" cy="41148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Georgia"/>
              </a:rPr>
              <a:t>Summer
Apr–Sep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1F5F9"/>
                </a:solidFill>
                <a:latin typeface="Georgia"/>
              </a:rPr>
              <a:t>974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Georgia"/>
              </a:rPr>
              <a:t>1001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00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total 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July is the surprise — highest session count despite summer, likely driven by outdoor open water swims.</a:t>
            </a:r>
          </a:p>
        </p:txBody>
      </p:sp>
    </p:spTree>
    <p:extLst>
      <p:ext uri="{BB962C8B-B14F-4D97-AF65-F5344CB8AC3E}">
        <p14:creationId xmlns:p14="http://schemas.microsoft.com/office/powerpoint/2010/main" val="2480019241"/>
      </p:ext>
    </p:extLst>
  </p:cSld>
  <p:clrMapOvr>
    <a:masterClrMapping/>
  </p:clrMapOvr>
  <p:transition spd="slow"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CONSISTENCY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0" b="1" i="0">
                <a:solidFill>
                  <a:srgbClr val="22D3EE"/>
                </a:solidFill>
                <a:latin typeface="Georgia"/>
              </a:rPr>
              <a:t>390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Georgia"/>
              </a:rPr>
              <a:t>weeks with at least one swim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920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out of ~435 possible since Dec 2017  ·  89.7% week adherence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1645920"/>
            <a:ext cx="3017520" cy="36576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0" y="1828800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That's consistency
behind elite performance.
No single month
without swimming.
Through travel,
illness, life.</a:t>
            </a:r>
          </a:p>
        </p:txBody>
      </p:sp>
    </p:spTree>
    <p:extLst>
      <p:ext uri="{BB962C8B-B14F-4D97-AF65-F5344CB8AC3E}">
        <p14:creationId xmlns:p14="http://schemas.microsoft.com/office/powerpoint/2010/main" val="966068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Current Streak: 16 Consecutive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973835" y="210312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3835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13915" y="210312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13915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W2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3996" y="210312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53996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4075" y="210312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94075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34156" y="210312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4156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4235" y="210312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74235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14316" y="210312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14316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54396" y="210312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54396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4476" y="210312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4476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4556" y="210312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34556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74636" y="210312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74636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4716" y="210312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14716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54796" y="2103120"/>
            <a:ext cx="502920" cy="5029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54796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94876" y="2103120"/>
            <a:ext cx="502920" cy="5029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94876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34956" y="2103120"/>
            <a:ext cx="502920" cy="5029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34956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75036" y="2103120"/>
            <a:ext cx="502920" cy="5029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75036" y="2697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1737360"/>
            <a:ext cx="9144000" cy="50292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08760" y="1755648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Active since week of December 29, 2025  ·  still going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474720"/>
            <a:ext cx="11430000" cy="2560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3657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657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16 weeks = 112 consecutive days with at least one swim per week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1879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1879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Longest streak observed in the 8-year dataset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71830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47183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Streak began during a period of increasing session distances — correlated with motivation peak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24865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524865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Current avg session in streak window: 1,750 yd — above the 8-year median</a:t>
            </a:r>
          </a:p>
        </p:txBody>
      </p:sp>
    </p:spTree>
    <p:extLst>
      <p:ext uri="{BB962C8B-B14F-4D97-AF65-F5344CB8AC3E}">
        <p14:creationId xmlns:p14="http://schemas.microsoft.com/office/powerpoint/2010/main" val="1382828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32004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33832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OPEN WATER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0" b="1" i="0">
                <a:solidFill>
                  <a:srgbClr val="F1F5F9"/>
                </a:solidFill>
                <a:latin typeface="Georgia"/>
              </a:rPr>
              <a:t>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0" b="1" i="0">
                <a:solidFill>
                  <a:srgbClr val="22D3EE"/>
                </a:solidFill>
                <a:latin typeface="Georgia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0A5FA"/>
                </a:solidFill>
                <a:latin typeface="Georgia"/>
              </a:rPr>
              <a:t>124 Adventures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1F5F9"/>
                </a:solidFill>
                <a:latin typeface="Calibri"/>
              </a:rPr>
              <a:t>6.2% of all sessions — a different discipline, a different pace, a different mindset. From 2018 to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10515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3898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TOTAL OW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3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D3EE"/>
                </a:solidFill>
                <a:latin typeface="Georgia"/>
              </a:rPr>
              <a:t>1 km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560320"/>
            <a:ext cx="5486400" cy="10515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6700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AVG OW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71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0A5FA"/>
                </a:solidFill>
                <a:latin typeface="Georgia"/>
              </a:rPr>
              <a:t>8 yd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840479"/>
            <a:ext cx="5486400" cy="10515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95020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PEAK OW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5195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Georgia"/>
              </a:rPr>
              <a:t>2023 — 28 swims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5120640"/>
            <a:ext cx="5486400" cy="10515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52303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FIRST OW SWIM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532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4748B"/>
                </a:solidFill>
                <a:latin typeface="Georgia"/>
              </a:rPr>
              <a:t>June 2018</a:t>
            </a:r>
          </a:p>
        </p:txBody>
      </p:sp>
    </p:spTree>
    <p:extLst>
      <p:ext uri="{BB962C8B-B14F-4D97-AF65-F5344CB8AC3E}">
        <p14:creationId xmlns:p14="http://schemas.microsoft.com/office/powerpoint/2010/main" val="1628514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OPEN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Open Water Sessions by Year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63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OPEN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Pool vs Open Water: A Different Beast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5577840" cy="4572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91440" cy="457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Georgia"/>
              </a:rPr>
              <a:t>Pool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1F5F9"/>
                </a:solidFill>
                <a:latin typeface="Georgia"/>
              </a:rPr>
              <a:t>1866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Georgia"/>
              </a:rPr>
              <a:t>1:54/100yd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median 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  <a:latin typeface="Calibri"/>
              </a:rPr>
              <a:t>94% of all swims · controlled environment · flip turns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91640"/>
            <a:ext cx="5577840" cy="4572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91440" cy="4572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D3EE"/>
                </a:solidFill>
                <a:latin typeface="Georgia"/>
              </a:rPr>
              <a:t>Open Water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1F5F9"/>
                </a:solidFill>
                <a:latin typeface="Georgia"/>
              </a:rPr>
              <a:t>124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94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Georgia"/>
              </a:rPr>
              <a:t>2:48/100yd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median 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846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  <a:latin typeface="Calibri"/>
              </a:rPr>
              <a:t>6% of all swims · currents · sighting · wetsuit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1F5F9"/>
                </a:solidFill>
                <a:latin typeface="Calibri"/>
              </a:rPr>
              <a:t>Open water is 53s/100yd slower — natural water, no walls, sighting overhead.</a:t>
            </a:r>
          </a:p>
        </p:txBody>
      </p:sp>
    </p:spTree>
    <p:extLst>
      <p:ext uri="{BB962C8B-B14F-4D97-AF65-F5344CB8AC3E}">
        <p14:creationId xmlns:p14="http://schemas.microsoft.com/office/powerpoint/2010/main" val="3783072470"/>
      </p:ext>
    </p:extLst>
  </p:cSld>
  <p:clrMapOvr>
    <a:masterClrMapping/>
  </p:clrMapOvr>
  <p:transition spd="med">
    <p:circl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How Every Swim Gets Measured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743200" cy="39319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7432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Trebuchet MS"/>
              </a:rPr>
              <a:t>Apple Watch
(early era)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Dec 2017
– Mar 2020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2743200" cy="39319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743200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20574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Trebuchet MS"/>
              </a:rPr>
              <a:t>Apple Watch
(Marcin's)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80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Jun 2020
– Mar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743200" cy="39319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2743200" cy="91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Trebuchet MS"/>
              </a:rPr>
              <a:t>swim.com
(aggregate)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2016–2017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828800"/>
            <a:ext cx="2743200" cy="39319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0" y="1828800"/>
            <a:ext cx="2743200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20574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4748B"/>
                </a:solidFill>
                <a:latin typeface="Trebuchet MS"/>
              </a:rPr>
              <a:t>Strava archive
(pending)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880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2020–present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5661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GPS + HR data
requested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989320"/>
            <a:ext cx="11430000" cy="5943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Each swim: distance · duration · pace · laps · pool length · heart rate · calories  →  pre-processed into swims.json</a:t>
            </a:r>
          </a:p>
        </p:txBody>
      </p:sp>
    </p:spTree>
    <p:extLst>
      <p:ext uri="{BB962C8B-B14F-4D97-AF65-F5344CB8AC3E}">
        <p14:creationId xmlns:p14="http://schemas.microsoft.com/office/powerpoint/2010/main" val="2108461886"/>
      </p:ext>
    </p:extLst>
  </p:cSld>
  <p:clrMapOvr>
    <a:masterClrMapping/>
  </p:clrMapOvr>
  <p:transition spd="med">
    <p:comb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BODY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1F5F9"/>
                </a:solidFill>
                <a:latin typeface="Georgia"/>
              </a:rPr>
              <a:t>Beyond the Pool: The Body's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657600" cy="42976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657600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HRV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22D3EE"/>
                </a:solidFill>
                <a:latin typeface="Georgia"/>
              </a:rPr>
              <a:t>43.8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Heart Rate Variability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94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Min: 12ms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94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Max: 116ms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51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2,744 daily records  ·  May 2018 – Mar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91640"/>
            <a:ext cx="3657600" cy="42976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691640"/>
            <a:ext cx="3657600" cy="10972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RESTING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60A5FA"/>
                </a:solidFill>
                <a:latin typeface="Georgia"/>
              </a:rPr>
              <a:t>59 bpm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46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Athlete-level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94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Min: 43bpm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794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Max: 93bpm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51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Available since May 2018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691640"/>
            <a:ext cx="3657600" cy="42976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1691640"/>
            <a:ext cx="36576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SLEEP AVERAGE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59E0B"/>
                </a:solidFill>
                <a:latin typeface="Georgia"/>
              </a:rPr>
              <a:t>6.1 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246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Tracked since Oct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94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n=156 nights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251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Oct 2024 – Mar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HRV and resting HR are early signals of readiness — surfaced daily in the swim coach dashboard.</a:t>
            </a:r>
          </a:p>
        </p:txBody>
      </p:sp>
    </p:spTree>
    <p:extLst>
      <p:ext uri="{BB962C8B-B14F-4D97-AF65-F5344CB8AC3E}">
        <p14:creationId xmlns:p14="http://schemas.microsoft.com/office/powerpoint/2010/main" val="390578288"/>
      </p:ext>
    </p:extLst>
  </p:cSld>
  <p:clrMapOvr>
    <a:masterClrMapping/>
  </p:clrMapOvr>
  <p:transition spd="med">
    <p:strips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BODY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HRV: The Performance Predictor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8580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371600"/>
            <a:ext cx="4480560" cy="50292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Trebuchet MS"/>
              </a:rPr>
              <a:t>Correlation with 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194560"/>
            <a:ext cx="4114800" cy="118872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2286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HRV ≥ 60ms vs &lt; 30ms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6974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Trebuchet MS"/>
              </a:rPr>
              <a:t>5.1s faster
per 100yd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566160"/>
            <a:ext cx="4114800" cy="118872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36576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Resting HR low vs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0690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0A5FA"/>
                </a:solidFill>
                <a:latin typeface="Trebuchet MS"/>
              </a:rPr>
              <a:t>3.7s faster
per 100yd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4937760"/>
            <a:ext cx="4114800" cy="118872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5029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Sleep &gt; 7h vs &lt; 6h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4406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Trebuchet MS"/>
              </a:rPr>
              <a:t>4.1s faster
per 100yd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6217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n=1,247 days with matched swim data</a:t>
            </a:r>
          </a:p>
        </p:txBody>
      </p:sp>
    </p:spTree>
    <p:extLst>
      <p:ext uri="{BB962C8B-B14F-4D97-AF65-F5344CB8AC3E}">
        <p14:creationId xmlns:p14="http://schemas.microsoft.com/office/powerpoint/2010/main" val="1418223067"/>
      </p:ext>
    </p:extLst>
  </p:cSld>
  <p:clrMapOvr>
    <a:masterClrMapping/>
  </p:clrMapOvr>
  <p:transition spd="med">
    <p:plus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BODY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Resting Heart Rate: Athlete Territory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715000"/>
            <a:ext cx="3657600" cy="9144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ALL-TIME 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80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Georgia"/>
              </a:rPr>
              <a:t>43 bpm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5715000"/>
            <a:ext cx="3657600" cy="9144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5806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080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D3EE"/>
                </a:solidFill>
                <a:latin typeface="Georgia"/>
              </a:rPr>
              <a:t>59 bpm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5715000"/>
            <a:ext cx="3657600" cy="9144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5806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ALL-TIME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080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  <a:latin typeface="Georgia"/>
              </a:rPr>
              <a:t>93 bpm</a:t>
            </a:r>
          </a:p>
        </p:txBody>
      </p:sp>
    </p:spTree>
    <p:extLst>
      <p:ext uri="{BB962C8B-B14F-4D97-AF65-F5344CB8AC3E}">
        <p14:creationId xmlns:p14="http://schemas.microsoft.com/office/powerpoint/2010/main" val="2691747308"/>
      </p:ext>
    </p:extLst>
  </p:cSld>
  <p:clrMapOvr>
    <a:masterClrMapping/>
  </p:clrMapOvr>
  <p:transition spd="med"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BODY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What Recovery Predicts About Tomorrow's Swim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11430000" cy="43891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007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WHEN YOU HAVE…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7007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VS…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007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7007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INSIGHT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11430000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0B981"/>
                </a:solidFill>
                <a:latin typeface="Calibri"/>
              </a:rPr>
              <a:t>HRV ≥ 60ms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23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&lt; 30ms HRV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423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Trebuchet MS"/>
              </a:rPr>
              <a:t>5s faster / 100yd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423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1F5F9"/>
                </a:solidFill>
                <a:latin typeface="Calibri"/>
              </a:rPr>
              <a:t>High readiness → attack the pace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64408"/>
            <a:ext cx="11430000" cy="10515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5387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0B981"/>
                </a:solidFill>
                <a:latin typeface="Calibri"/>
              </a:rPr>
              <a:t>RHR &lt; 52 bpm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5387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RHR &gt; 63 bpm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53872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Trebuchet MS"/>
              </a:rPr>
              <a:t>4s faster / 100yd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5387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1F5F9"/>
                </a:solidFill>
                <a:latin typeface="Calibri"/>
              </a:rPr>
              <a:t>Low HR → body is recovered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79976"/>
            <a:ext cx="11430000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65429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0B981"/>
                </a:solidFill>
                <a:latin typeface="Calibri"/>
              </a:rPr>
              <a:t>Sleep &gt; 7h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65429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Sleep &lt; 6h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65429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Trebuchet MS"/>
              </a:rPr>
              <a:t>4s faster / 100yd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65429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1F5F9"/>
                </a:solidFill>
                <a:latin typeface="Calibri"/>
              </a:rPr>
              <a:t>Sleep is the cheapest performance drug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95544"/>
            <a:ext cx="11430000" cy="105156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76986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0B981"/>
                </a:solidFill>
                <a:latin typeface="Calibri"/>
              </a:rPr>
              <a:t>Morning swim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76986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Evening swim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76986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Trebuchet MS"/>
              </a:rPr>
              <a:t>2s faster / 100yd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576986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1F5F9"/>
                </a:solidFill>
                <a:latin typeface="Calibri"/>
              </a:rPr>
              <a:t>Circadian rhythm favors morning</a:t>
            </a:r>
          </a:p>
        </p:txBody>
      </p:sp>
    </p:spTree>
    <p:extLst>
      <p:ext uri="{BB962C8B-B14F-4D97-AF65-F5344CB8AC3E}">
        <p14:creationId xmlns:p14="http://schemas.microsoft.com/office/powerpoint/2010/main" val="1822186727"/>
      </p:ext>
    </p:extLst>
  </p:cSld>
  <p:clrMapOvr>
    <a:masterClrMapping/>
  </p:clrMapOvr>
  <p:transition spd="med">
    <p:diamond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Trebuchet MS"/>
              </a:rPr>
              <a:t>LOOKING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1F5F9"/>
                </a:solidFill>
                <a:latin typeface="Georgia"/>
              </a:rPr>
              <a:t>2026: On Track for a Record Year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7724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463040"/>
            <a:ext cx="3566160" cy="4846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CURRENT DAILY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842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Georgia"/>
              </a:rPr>
              <a:t>1.24 km/day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578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ANNUALIZED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87121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Georgia"/>
              </a:rPr>
              <a:t>~454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465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2025 ACTUAL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75818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Georgia"/>
              </a:rPr>
              <a:t>336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3525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GAP TO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6451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Georgia"/>
              </a:rPr>
              <a:t>+35% vs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239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SESSIONS/WEEK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532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Georgia"/>
              </a:rPr>
              <a:t>~5.3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Projection assumes current pace rate holds. Strava archive (GPS + HR) will further enrich data once imported.</a:t>
            </a:r>
          </a:p>
        </p:txBody>
      </p:sp>
    </p:spTree>
    <p:extLst>
      <p:ext uri="{BB962C8B-B14F-4D97-AF65-F5344CB8AC3E}">
        <p14:creationId xmlns:p14="http://schemas.microsoft.com/office/powerpoint/2010/main" val="2769312583"/>
      </p:ext>
    </p:extLst>
  </p:cSld>
  <p:clrMapOvr>
    <a:masterClrMapping/>
  </p:clrMapOvr>
  <p:transition spd="slow">
    <p:wheel spokes="2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0B16"/>
            </a:gs>
            <a:gs pos="25000">
              <a:srgbClr val="071A2E"/>
            </a:gs>
            <a:gs pos="50000">
              <a:srgbClr val="0A2942"/>
            </a:gs>
            <a:gs pos="75000">
              <a:srgbClr val="0D3B5C"/>
            </a:gs>
            <a:gs pos="100000">
              <a:srgbClr val="0F4D6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74720"/>
            <a:ext cx="12188952" cy="33832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73152" cy="5669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F1F5F9"/>
                </a:solidFill>
                <a:latin typeface="Georgia"/>
              </a:rPr>
              <a:t>Still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22D3EE"/>
                </a:solidFill>
                <a:latin typeface="Georgia"/>
              </a:rPr>
              <a:t>Swimming.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Georgia"/>
              </a:rPr>
              <a:t>1,990 sessions. 2,349 km. 1,047 hours. 8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The data keeps growing. The pace keeps improving. The streak keeps running.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66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A5FA"/>
                </a:solidFill>
                <a:latin typeface="Calibri"/>
              </a:rPr>
              <a:t>Next: Strava GPS data · open water mapping · predictive readiness · Kaggle dataset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Marcin Durlak  ·  March 2026  ·  @sirmortimer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731520"/>
            <a:ext cx="1188720" cy="9144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8046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Swims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07899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Trebuchet MS"/>
              </a:rPr>
              <a:t>1,990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55480" y="731520"/>
            <a:ext cx="1188720" cy="9144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28632" y="8046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8632" y="107899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Trebuchet MS"/>
              </a:rPr>
              <a:t>2,349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81360" y="731520"/>
            <a:ext cx="1188720" cy="9144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54512" y="8046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Trebuchet MS"/>
              </a:rPr>
              <a:t>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4512" y="107899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Trebuchet MS"/>
              </a:rPr>
              <a:t>1,047</a:t>
            </a:r>
          </a:p>
        </p:txBody>
      </p:sp>
    </p:spTree>
    <p:extLst>
      <p:ext uri="{BB962C8B-B14F-4D97-AF65-F5344CB8AC3E}">
        <p14:creationId xmlns:p14="http://schemas.microsoft.com/office/powerpoint/2010/main" val="1074689409"/>
      </p:ext>
    </p:extLst>
  </p:cSld>
  <p:clrMapOvr>
    <a:masterClrMapping/>
  </p:clrMapOvr>
  <p:transition spd="slow">
    <p:dissolv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500687-66AD-D84C-92B9-B11A2727211F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1237</Words>
  <Application>Microsoft Macintosh PowerPoint</Application>
  <PresentationFormat>Custom</PresentationFormat>
  <Paragraphs>307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Marcin Pokorski</cp:lastModifiedBy>
  <cp:revision>2</cp:revision>
  <dcterms:created xsi:type="dcterms:W3CDTF">2013-01-27T09:14:16Z</dcterms:created>
  <dcterms:modified xsi:type="dcterms:W3CDTF">2026-03-30T03:36:21Z</dcterms:modified>
  <cp:category/>
</cp:coreProperties>
</file>